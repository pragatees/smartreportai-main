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21"/>
  </p:notesMasterIdLst>
  <p:sldIdLst>
    <p:sldId id="276" r:id="rId3"/>
    <p:sldId id="256" r:id="rId4"/>
    <p:sldId id="258" r:id="rId5"/>
    <p:sldId id="278" r:id="rId6"/>
    <p:sldId id="257" r:id="rId7"/>
    <p:sldId id="259" r:id="rId8"/>
    <p:sldId id="260" r:id="rId9"/>
    <p:sldId id="261" r:id="rId10"/>
    <p:sldId id="262" r:id="rId11"/>
    <p:sldId id="263" r:id="rId12"/>
    <p:sldId id="266" r:id="rId13"/>
    <p:sldId id="279" r:id="rId14"/>
    <p:sldId id="268" r:id="rId15"/>
    <p:sldId id="269" r:id="rId16"/>
    <p:sldId id="271" r:id="rId17"/>
    <p:sldId id="280" r:id="rId18"/>
    <p:sldId id="273" r:id="rId19"/>
    <p:sldId id="275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oC0JltUvp00QWpxyV5VaCW4R5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60E524-4960-47BC-BFD3-265457FAA043}">
  <a:tblStyle styleId="{2C60E524-4960-47BC-BFD3-265457FAA04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5C59898F-3D85-67D8-A4F9-FA71F6610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:notes">
            <a:extLst>
              <a:ext uri="{FF2B5EF4-FFF2-40B4-BE49-F238E27FC236}">
                <a16:creationId xmlns:a16="http://schemas.microsoft.com/office/drawing/2014/main" id="{4D3FC5D9-8378-0443-E3B8-B75F9E46D4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3:notes">
            <a:extLst>
              <a:ext uri="{FF2B5EF4-FFF2-40B4-BE49-F238E27FC236}">
                <a16:creationId xmlns:a16="http://schemas.microsoft.com/office/drawing/2014/main" id="{602C5F0F-03F8-2819-188B-5C19CB4370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2566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2015AD00-DFFA-CAB3-16C8-AD24AA362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6:notes">
            <a:extLst>
              <a:ext uri="{FF2B5EF4-FFF2-40B4-BE49-F238E27FC236}">
                <a16:creationId xmlns:a16="http://schemas.microsoft.com/office/drawing/2014/main" id="{40B76242-30D5-5B6F-E449-B048C1C320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6:notes">
            <a:extLst>
              <a:ext uri="{FF2B5EF4-FFF2-40B4-BE49-F238E27FC236}">
                <a16:creationId xmlns:a16="http://schemas.microsoft.com/office/drawing/2014/main" id="{112DD632-DA42-5C0E-F8E4-D4E967F12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989308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3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4" name="Google Shape;114;p3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3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6" name="Google Shape;116;p3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4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2" name="Google Shape;132;p4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3" name="Google Shape;133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4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4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0" name="Google Shape;140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4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4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7D404F-D3E8-9805-CF15-14C175488A89}"/>
              </a:ext>
            </a:extLst>
          </p:cNvPr>
          <p:cNvSpPr txBox="1"/>
          <p:nvPr/>
        </p:nvSpPr>
        <p:spPr>
          <a:xfrm>
            <a:off x="2501660" y="1713012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R19AD482 </a:t>
            </a: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IN" sz="3200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Project Work-Phase II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22DACE-9119-36D9-93C9-485F5864ECED}"/>
              </a:ext>
            </a:extLst>
          </p:cNvPr>
          <p:cNvSpPr txBox="1"/>
          <p:nvPr/>
        </p:nvSpPr>
        <p:spPr>
          <a:xfrm>
            <a:off x="7772400" y="4770833"/>
            <a:ext cx="35998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r>
              <a:rPr lang="en-IN" sz="2800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2800" b="1" dirty="0">
                <a:solidFill>
                  <a:srgbClr val="4E18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Agentic AI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4BD145-E62F-0286-F59B-BAEB983E1492}"/>
              </a:ext>
            </a:extLst>
          </p:cNvPr>
          <p:cNvSpPr txBox="1"/>
          <p:nvPr/>
        </p:nvSpPr>
        <p:spPr>
          <a:xfrm>
            <a:off x="769953" y="2737276"/>
            <a:ext cx="109641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TITLE</a:t>
            </a: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OF THE PROJECT:</a:t>
            </a:r>
            <a:r>
              <a:rPr lang="en-GB" sz="4800" b="1" dirty="0">
                <a:solidFill>
                  <a:srgbClr val="4E18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000" b="1" dirty="0">
                <a:solidFill>
                  <a:srgbClr val="4E18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SmartReport AI </a:t>
            </a:r>
            <a:r>
              <a:rPr lang="en-IN" sz="3000" b="1" dirty="0">
                <a:solidFill>
                  <a:srgbClr val="4E18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Leveraging Multi-Agent Intelligence for Deep Report Analysis, Insight Discovery, and Personalized Recommendations</a:t>
            </a:r>
            <a:endParaRPr lang="en-IN" sz="3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2326C7-63E2-D634-02A6-0C334142B95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36" b="4807"/>
          <a:stretch/>
        </p:blipFill>
        <p:spPr bwMode="auto">
          <a:xfrm>
            <a:off x="1061720" y="281762"/>
            <a:ext cx="10068560" cy="110454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37529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400"/>
              <a:buFont typeface="Times New Roman"/>
              <a:buNone/>
            </a:pPr>
            <a:r>
              <a:rPr lang="en-US" b="1" dirty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OF THE PROJECT</a:t>
            </a:r>
            <a:br>
              <a:rPr lang="en-US" sz="4400" b="1" dirty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/>
          </a:p>
        </p:txBody>
      </p:sp>
      <p:sp>
        <p:nvSpPr>
          <p:cNvPr id="160" name="Google Shape;160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TEAM MEMBERS</a:t>
            </a:r>
            <a:endParaRPr dirty="0"/>
          </a:p>
          <a:p>
            <a:pPr marL="0" lvl="0" indent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	Pragateesh G  - 22AD068</a:t>
            </a:r>
          </a:p>
          <a:p>
            <a:pPr marL="0" lvl="0" indent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GB" dirty="0" err="1">
                <a:latin typeface="Times New Roman"/>
                <a:ea typeface="Times New Roman"/>
                <a:cs typeface="Times New Roman"/>
                <a:sym typeface="Times New Roman"/>
              </a:rPr>
              <a:t>Rudresh</a:t>
            </a: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 J D – 22AD077</a:t>
            </a:r>
          </a:p>
          <a:p>
            <a:pPr marL="0" lvl="0" indent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	Vetrivel A – 22AD119</a:t>
            </a:r>
          </a:p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GUIDED BY</a:t>
            </a:r>
            <a:endParaRPr dirty="0"/>
          </a:p>
          <a:p>
            <a:pPr marL="0" indent="0" algn="ctr">
              <a:buSzPct val="100000"/>
              <a:buNone/>
            </a:pPr>
            <a:r>
              <a:rPr lang="en-US" sz="2800" b="1" kern="1200" dirty="0">
                <a:solidFill>
                  <a:srgbClr val="4E18E8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                                                             </a:t>
            </a:r>
            <a:r>
              <a:rPr lang="en-US" sz="2800" b="1" kern="120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Dr. </a:t>
            </a:r>
            <a:r>
              <a:rPr lang="en-US" sz="2800" b="1" kern="1200" dirty="0" err="1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G.Shobana</a:t>
            </a:r>
            <a:r>
              <a:rPr lang="en-US" sz="2800" b="1" kern="120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B.E , M.E , PhD</a:t>
            </a:r>
            <a:endParaRPr lang="en-IN" sz="2800" b="1" kern="1200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  <p:sp>
        <p:nvSpPr>
          <p:cNvPr id="161" name="Google Shape;161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ECAFD4-F276-98BE-0E75-22909B52F779}"/>
              </a:ext>
            </a:extLst>
          </p:cNvPr>
          <p:cNvSpPr txBox="1"/>
          <p:nvPr/>
        </p:nvSpPr>
        <p:spPr>
          <a:xfrm>
            <a:off x="3048000" y="327511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"/>
          <p:cNvSpPr txBox="1"/>
          <p:nvPr/>
        </p:nvSpPr>
        <p:spPr>
          <a:xfrm>
            <a:off x="0" y="627165"/>
            <a:ext cx="12103100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00B0F0"/>
                </a:solidFill>
                <a:latin typeface="Times New Roman"/>
                <a:cs typeface="Times New Roman"/>
                <a:sym typeface="Times New Roman"/>
              </a:rPr>
              <a:t>PROBLEM</a:t>
            </a:r>
            <a:r>
              <a:rPr lang="en-US" sz="2800" b="1" i="0" u="none" strike="noStrike" cap="none" dirty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400" b="1" dirty="0">
                <a:solidFill>
                  <a:srgbClr val="00B0F0"/>
                </a:solidFill>
                <a:latin typeface="Times New Roman"/>
                <a:cs typeface="Times New Roman"/>
                <a:sym typeface="Times New Roman"/>
              </a:rPr>
              <a:t>MOTIVATION</a:t>
            </a:r>
            <a:endParaRPr sz="4400" b="1" dirty="0">
              <a:solidFill>
                <a:srgbClr val="00B0F0"/>
              </a:solidFill>
              <a:latin typeface="Times New Roman"/>
              <a:cs typeface="Times New Roman"/>
            </a:endParaRPr>
          </a:p>
        </p:txBody>
      </p:sp>
      <p:sp>
        <p:nvSpPr>
          <p:cNvPr id="175" name="Google Shape;175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90C8F2-B0B9-85D4-9255-3AC5D0FBCEB9}"/>
              </a:ext>
            </a:extLst>
          </p:cNvPr>
          <p:cNvSpPr txBox="1"/>
          <p:nvPr/>
        </p:nvSpPr>
        <p:spPr>
          <a:xfrm>
            <a:off x="605286" y="1758380"/>
            <a:ext cx="1111801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receive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reports across multiple domains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healthcare, finance, and education, which are difficult to interpret manually.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clear challenge in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critical information and actionable insights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these reports.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document analysis systems are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a single domain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their flexibility and usability.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addresses the need for a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domain-agnostic AI system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domain-specific solutions.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proposes a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AI architecture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automatically classify documents,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content, and extract key insights using NLP and semantic understanding.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leverages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OCR, vector databases, and contextual language models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support multiple document formats and ensure adaptable, software-based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>
          <a:extLst>
            <a:ext uri="{FF2B5EF4-FFF2-40B4-BE49-F238E27FC236}">
              <a16:creationId xmlns:a16="http://schemas.microsoft.com/office/drawing/2014/main" id="{F7A2C690-7831-DFF7-3239-EF407A7A3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">
            <a:extLst>
              <a:ext uri="{FF2B5EF4-FFF2-40B4-BE49-F238E27FC236}">
                <a16:creationId xmlns:a16="http://schemas.microsoft.com/office/drawing/2014/main" id="{D2C95392-28EF-098A-1764-C1CEF2B3901B}"/>
              </a:ext>
            </a:extLst>
          </p:cNvPr>
          <p:cNvSpPr txBox="1"/>
          <p:nvPr/>
        </p:nvSpPr>
        <p:spPr>
          <a:xfrm>
            <a:off x="-349250" y="831323"/>
            <a:ext cx="12541250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00B0F0"/>
                </a:solidFill>
                <a:latin typeface="Times New Roman"/>
                <a:cs typeface="Times New Roman"/>
                <a:sym typeface="Times New Roman"/>
              </a:rPr>
              <a:t>PROBLEM</a:t>
            </a:r>
            <a:r>
              <a:rPr lang="en-US" sz="2800" b="1" i="0" u="none" strike="noStrike" cap="none" dirty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400" b="1" dirty="0">
                <a:solidFill>
                  <a:srgbClr val="00B0F0"/>
                </a:solidFill>
                <a:latin typeface="Times New Roman"/>
                <a:cs typeface="Times New Roman"/>
                <a:sym typeface="Times New Roman"/>
              </a:rPr>
              <a:t>DEFINITION</a:t>
            </a:r>
            <a:endParaRPr sz="4400" b="1" dirty="0">
              <a:solidFill>
                <a:srgbClr val="00B0F0"/>
              </a:solidFill>
              <a:latin typeface="Times New Roman"/>
              <a:cs typeface="Times New Roman"/>
            </a:endParaRPr>
          </a:p>
        </p:txBody>
      </p:sp>
      <p:sp>
        <p:nvSpPr>
          <p:cNvPr id="175" name="Google Shape;175;p3">
            <a:extLst>
              <a:ext uri="{FF2B5EF4-FFF2-40B4-BE49-F238E27FC236}">
                <a16:creationId xmlns:a16="http://schemas.microsoft.com/office/drawing/2014/main" id="{EBCC63E4-2BEB-E3A6-4EF7-BF3CCBEC1D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53BDA6-A85F-927C-3313-BBA8B429A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009511"/>
            <a:ext cx="117729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face difficulty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and interpreting complex reports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from different domains such as healthcare, finance, and education.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of reports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and error-prone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for non-expert users.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AI solutions are mostly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domain-specific or enterprise-focused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limiting their usability for common users.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no unified system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classify documents and extract meaningful insights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across multiple domains.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lack access to tools that provide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actionable recommendations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from reports in a simple and user-friendly manner.</a:t>
            </a:r>
          </a:p>
        </p:txBody>
      </p:sp>
    </p:spTree>
    <p:extLst>
      <p:ext uri="{BB962C8B-B14F-4D97-AF65-F5344CB8AC3E}">
        <p14:creationId xmlns:p14="http://schemas.microsoft.com/office/powerpoint/2010/main" val="2824866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"/>
          <p:cNvSpPr txBox="1"/>
          <p:nvPr/>
        </p:nvSpPr>
        <p:spPr>
          <a:xfrm>
            <a:off x="-241300" y="763781"/>
            <a:ext cx="12128500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00B0F0"/>
                </a:solidFill>
                <a:latin typeface="Times New Roman"/>
                <a:cs typeface="Times New Roman"/>
                <a:sym typeface="Times New Roman"/>
              </a:rPr>
              <a:t>OBJECTIVE</a:t>
            </a:r>
            <a:endParaRPr sz="4400" b="1" dirty="0">
              <a:solidFill>
                <a:srgbClr val="00B0F0"/>
              </a:solidFill>
              <a:latin typeface="Times New Roman"/>
              <a:cs typeface="Times New Roman"/>
              <a:sym typeface="Calibri"/>
            </a:endParaRPr>
          </a:p>
        </p:txBody>
      </p:sp>
      <p:sp>
        <p:nvSpPr>
          <p:cNvPr id="168" name="Google Shape;16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10DAF2-D807-2C4F-9B45-2F584DF2E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1726673"/>
            <a:ext cx="111633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domain-agnostic AI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capable of analyzing documents from multiple fields such as healthcare, finance, education, and legal.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automatically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classify documents and extract key insights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NLP and semantic understanding.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multi-agent architecture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performs document analysis, insight generation, and recommendation delivery efficiently.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support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document formats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(PDFs, scanned files, images) using OCR and vector-based semantic retrieval.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clear, actionable recommendations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through a simple and user-friendly interface for everyday users.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400"/>
              <a:buFont typeface="Times New Roman"/>
              <a:buNone/>
            </a:pPr>
            <a:r>
              <a:rPr lang="en-US" sz="4400" b="1" dirty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 </a:t>
            </a:r>
            <a:br>
              <a:rPr lang="en-US" sz="4400" b="1" dirty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/>
          </a:p>
        </p:txBody>
      </p:sp>
      <p:sp>
        <p:nvSpPr>
          <p:cNvPr id="181" name="Google Shape;181;p4"/>
          <p:cNvSpPr txBox="1">
            <a:spLocks noGrp="1"/>
          </p:cNvSpPr>
          <p:nvPr>
            <p:ph type="body" idx="1"/>
          </p:nvPr>
        </p:nvSpPr>
        <p:spPr>
          <a:xfrm>
            <a:off x="838200" y="14700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FinVerse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Automates financial analysis with multi-agent LLMs and real-time data APIs; powerful for finance but not domain-agnostic.</a:t>
            </a: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FinCon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Uses hierarchical multi-agent roles with memory and reinforcement; modular design makes it adaptable beyond finance.</a:t>
            </a: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Enhancing Anomaly Detection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Employs specialized agents for data conversion, consolidation, and validation; accurate but narrowly focused on anomaly detection.</a:t>
            </a: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LLM-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MedQA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clinical reasoning with case generation, voting, and explanation; transparent but not suitable for full document analysis or multi-domain insights.</a:t>
            </a: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070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v"/>
            </a:pPr>
            <a:endParaRPr sz="2400" dirty="0"/>
          </a:p>
        </p:txBody>
      </p:sp>
      <p:sp>
        <p:nvSpPr>
          <p:cNvPr id="182" name="Google Shape;18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Times New Roman"/>
              <a:buNone/>
            </a:pPr>
            <a:r>
              <a:rPr lang="en-US" sz="4400" b="1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DISADVANTAGES OF EXISTING SYSTEM</a:t>
            </a:r>
            <a:br>
              <a:rPr lang="en-US" sz="4400" b="1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189" name="Google Shape;18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E35BCED-39FB-D769-44A5-7DCE442BBE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66700" y="2408838"/>
            <a:ext cx="116078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FinVerse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Designed specifically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financial analysis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it unsuitable for documents from other domains such as healthcare or education.</a:t>
            </a: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FinCon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Although modular, it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primarily finance-oriented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involves complex agent hierarchies, limiting its practicality for simple, everyday document analysis.</a:t>
            </a: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Enhancing Anomaly Detection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Focuses only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detecting anomalies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lacking full document understanding, insight generation, and cross-domain adaptability.</a:t>
            </a: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LLM-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MedQA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Restricted to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medical domain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question–answering tasks, and does not support comprehensive document analysis or multi-domain insight extraction.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400"/>
              <a:buFont typeface="Times New Roman"/>
              <a:buNone/>
            </a:pPr>
            <a:r>
              <a:rPr lang="en-US" sz="4400" b="1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br>
              <a:rPr lang="en-US" sz="4400" b="1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196" name="Google Shape;19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BBB4CD7-EC00-1D0C-9705-6362938473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973525"/>
            <a:ext cx="111125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domain-agnostic multi-agent LLM framework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capable of analyzing documents across diverse fields such as finance, healthcare, legal, and academia.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both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structured and unstructured data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enabling comprehensive analysis of full-length documents.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Utilizes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modular, role-based agents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document ingestion, summarization, critical analysis, recommendation generation, and result verification.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self-critique and cross-agent collaboration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improve reliability, transparency, and reasoning quality.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actionable insights and personalized recommendations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without requiring architectural changes for new domains.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"/>
          <p:cNvSpPr txBox="1">
            <a:spLocks noGrp="1"/>
          </p:cNvSpPr>
          <p:nvPr>
            <p:ph type="title"/>
          </p:nvPr>
        </p:nvSpPr>
        <p:spPr>
          <a:xfrm>
            <a:off x="523875" y="365125"/>
            <a:ext cx="115665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400"/>
              <a:buFont typeface="Times New Roman"/>
              <a:buNone/>
            </a:pPr>
            <a:r>
              <a:rPr lang="en-US" sz="4400" b="1" dirty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ADVANTAGES OF PROPOSED SYSTEM</a:t>
            </a:r>
            <a:endParaRPr dirty="0"/>
          </a:p>
        </p:txBody>
      </p:sp>
      <p:sp>
        <p:nvSpPr>
          <p:cNvPr id="203" name="Google Shape;20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34B38A-DDE0-262F-F6A7-7DCB58D3A1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23876" y="1761361"/>
            <a:ext cx="1132522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Domain-agnostic design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enables analysis of documents from multiple fields without redesign or reconfiguration.</a:t>
            </a: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Multi-agent architecture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improves accuracy by dividing tasks such as classification, insight extraction, and recommendation generation.</a:t>
            </a: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structured and unstructured documents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including PDFs and scanned files, using OCR and NLP.</a:t>
            </a: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clear, actionable insights and recommendations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not just raw analysis or summaries.</a:t>
            </a: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Lightweight and user-friendly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it suitable for everyday users rather than only enterprise environments.</a:t>
            </a: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 and adaptability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allowing easy extension to new domains and document types.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10" name="Google Shape;210;p8"/>
          <p:cNvSpPr txBox="1"/>
          <p:nvPr/>
        </p:nvSpPr>
        <p:spPr>
          <a:xfrm>
            <a:off x="2146041" y="298580"/>
            <a:ext cx="785637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524831-E385-47AA-7D1C-D090F51D1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1" y="1146048"/>
            <a:ext cx="11150600" cy="45659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"/>
          <p:cNvSpPr txBox="1">
            <a:spLocks noGrp="1"/>
          </p:cNvSpPr>
          <p:nvPr>
            <p:ph type="title"/>
          </p:nvPr>
        </p:nvSpPr>
        <p:spPr>
          <a:xfrm>
            <a:off x="838200" y="-444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800"/>
              <a:buFont typeface="Times New Roman"/>
              <a:buNone/>
            </a:pPr>
            <a:r>
              <a:rPr lang="en-US" b="1" dirty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dirty="0"/>
          </a:p>
        </p:txBody>
      </p:sp>
      <p:sp>
        <p:nvSpPr>
          <p:cNvPr id="229" name="Google Shape;229;p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230" name="Google Shape;230;p1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B4196D-11DE-983C-D3EE-CFE379A9CEA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38" t="16850" b="2311"/>
          <a:stretch>
            <a:fillRect/>
          </a:stretch>
        </p:blipFill>
        <p:spPr bwMode="auto">
          <a:xfrm>
            <a:off x="838200" y="1129159"/>
            <a:ext cx="10515600" cy="522719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44A37-E41F-618C-61F5-49A3B50FD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3FD75-E64B-D0D2-2240-0055A9564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04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FLOW DIAGRAM</a:t>
            </a:r>
            <a:endParaRPr lang="en-IN" sz="32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C5A7F-3176-2AB0-E624-DB3C6C590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8B18-D97F-4AE8-AF7B-306900D7C61E}" type="datetime1">
              <a:rPr lang="en-IN" smtClean="0"/>
              <a:t>11-02-2026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B5377A-3034-3DA7-EA88-ED1EEAE78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13B45-0786-488C-9F83-DB626DC1C02A}" type="slidenum">
              <a:rPr lang="en-IN" smtClean="0"/>
              <a:t>12</a:t>
            </a:fld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DE0689C-00C5-7594-8454-70B7C33DB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100" y="1422400"/>
            <a:ext cx="11658600" cy="46863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		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C36C9F-DC6D-F6CD-DD59-1A27FA046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1310941"/>
            <a:ext cx="4889740" cy="53142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1A3571-1D28-AE35-974F-C5495840F1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248" y="2193334"/>
            <a:ext cx="5790344" cy="33079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F4A68E-C73C-5E40-F7D6-F54EC8A96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4237" y="4910645"/>
            <a:ext cx="1562318" cy="47631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64628D6-C6D1-6D31-10DE-49431DF189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249" y="3075674"/>
            <a:ext cx="1767246" cy="53879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40E3BD0-7231-3FB9-9F99-357B8B5BB6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4079" y="2193334"/>
            <a:ext cx="1714739" cy="3143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B88F89-6D73-EA90-1D0D-DFEB87F33F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4920" y="863138"/>
            <a:ext cx="1111402" cy="47631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FC6E046-15DF-D34C-095A-C9E1CF42F0C5}"/>
              </a:ext>
            </a:extLst>
          </p:cNvPr>
          <p:cNvSpPr/>
          <p:nvPr/>
        </p:nvSpPr>
        <p:spPr>
          <a:xfrm>
            <a:off x="5347248" y="1310941"/>
            <a:ext cx="1364103" cy="447202"/>
          </a:xfrm>
          <a:prstGeom prst="rect">
            <a:avLst/>
          </a:prstGeom>
          <a:solidFill>
            <a:srgbClr val="D3E3F4"/>
          </a:solidFill>
          <a:ln>
            <a:solidFill>
              <a:srgbClr val="D2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61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"/>
          <p:cNvSpPr txBox="1">
            <a:spLocks noGrp="1"/>
          </p:cNvSpPr>
          <p:nvPr>
            <p:ph type="title"/>
          </p:nvPr>
        </p:nvSpPr>
        <p:spPr>
          <a:xfrm>
            <a:off x="257788" y="32067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800"/>
              <a:buFont typeface="Times New Roman"/>
              <a:buNone/>
            </a:pPr>
            <a:r>
              <a:rPr lang="en-US" b="1" dirty="0">
                <a:solidFill>
                  <a:srgbClr val="00B0F0"/>
                </a:solidFill>
                <a:latin typeface="Times New Roman"/>
                <a:cs typeface="Times New Roman"/>
                <a:sym typeface="Times New Roman"/>
              </a:rPr>
              <a:t>MODULES</a:t>
            </a:r>
            <a:endParaRPr b="1" dirty="0">
              <a:solidFill>
                <a:srgbClr val="00B0F0"/>
              </a:solidFill>
              <a:latin typeface="Times New Roman"/>
              <a:cs typeface="Times New Roman"/>
            </a:endParaRPr>
          </a:p>
        </p:txBody>
      </p:sp>
      <p:sp>
        <p:nvSpPr>
          <p:cNvPr id="244" name="Google Shape;24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17CF15-0428-5B62-5858-B3A069DF9B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8777" y="2293134"/>
            <a:ext cx="959362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Module</a:t>
            </a: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Document Ingestion &amp; OCR Module</a:t>
            </a: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Domain Identification Module</a:t>
            </a: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 Extraction Module</a:t>
            </a: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Generation Module</a:t>
            </a: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Goal-Specified Agent Module</a:t>
            </a: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Vector Database &amp; Semantic Retrieval Module</a:t>
            </a: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Chatbot Interaction Module</a:t>
            </a: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Agent Orchestration &amp; Backend Module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400"/>
              <a:buFont typeface="Times New Roman"/>
              <a:buNone/>
            </a:pPr>
            <a:r>
              <a:rPr lang="en-US" sz="4400" b="1" dirty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DESCRIPTION</a:t>
            </a:r>
            <a:endParaRPr dirty="0"/>
          </a:p>
        </p:txBody>
      </p:sp>
      <p:sp>
        <p:nvSpPr>
          <p:cNvPr id="251" name="Google Shape;25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AB5C0D-EF0C-733B-7624-A51A6EA5DE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284403"/>
            <a:ext cx="108966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User Interface Module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– Provides a simple interface for users to upload documents and view insights and recommendations.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Document Ingestion &amp; OCR Module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– Extracts text from PDFs, scanned documents, and images using OCR and parsing techniques.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Domain Identification Module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– Automatically identifies the domain of the document such as healthcare, finance, or education.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Insight Extraction Module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– Analyzes document content using NLP to extract important information and key findings.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800"/>
              <a:buFont typeface="Times New Roman"/>
              <a:buNone/>
            </a:pPr>
            <a:r>
              <a:rPr lang="en-US" sz="4400" b="1" dirty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DESCRIPTION</a:t>
            </a:r>
            <a:endParaRPr dirty="0"/>
          </a:p>
        </p:txBody>
      </p:sp>
      <p:sp>
        <p:nvSpPr>
          <p:cNvPr id="265" name="Google Shape;265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2B6175-B52F-872D-C41C-84EFDE00F5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198161"/>
            <a:ext cx="108585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Generation Module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Generates actionable and personalized suggestions based on extracted insights.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Goal-Specified Agent Module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Aligns insights and recommendations with specific user-defined goals.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Vector Database &amp; Semantic Retrieval Module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Stores embeddings and enables fast semantic search for context-aware retrieval.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Chatbot Interaction Module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Allows users to interact with documents and insights through natural language queries.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Agent Orchestration &amp; Backend Module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Manages coordination between all agents and controls system workflow.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82122AD6-5440-A38F-227A-A0CE3507D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6">
            <a:extLst>
              <a:ext uri="{FF2B5EF4-FFF2-40B4-BE49-F238E27FC236}">
                <a16:creationId xmlns:a16="http://schemas.microsoft.com/office/drawing/2014/main" id="{274B502F-21F8-E97A-5CAD-70D24C57D7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800"/>
              <a:buFont typeface="Times New Roman"/>
              <a:buNone/>
            </a:pPr>
            <a:r>
              <a:rPr lang="en-US" b="1" dirty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dirty="0"/>
          </a:p>
        </p:txBody>
      </p:sp>
      <p:sp>
        <p:nvSpPr>
          <p:cNvPr id="265" name="Google Shape;265;p16">
            <a:extLst>
              <a:ext uri="{FF2B5EF4-FFF2-40B4-BE49-F238E27FC236}">
                <a16:creationId xmlns:a16="http://schemas.microsoft.com/office/drawing/2014/main" id="{8254F7E7-2F0B-06F7-2607-A51ADBB64A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186894-D8AD-0F78-38A9-EABCA400C0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198161"/>
            <a:ext cx="108585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SmartReport AI successfully demonstrates the effectiveness of a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domain-agnostic, AI-powered multi-agent system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short, multi-domain documents and transforming complex information into meaningful insights. By integrating OCR, NLP, vector-based semantic retrieval, and role-based agents, the system enables automatic document classification, insight extraction, and recommendation generation across diverse domains. The project focuses on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simplicity, usability, and cross-domain adaptability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suitable for everyday users rather than enterprise-only environments. Overall, SmartReport AI provides a scalable and practical solution that simplifies document understanding and supports informed decision-making in real-world scenarios.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741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8"/>
          <p:cNvSpPr txBox="1">
            <a:spLocks noGrp="1"/>
          </p:cNvSpPr>
          <p:nvPr>
            <p:ph type="title"/>
          </p:nvPr>
        </p:nvSpPr>
        <p:spPr>
          <a:xfrm>
            <a:off x="838200" y="97375"/>
            <a:ext cx="10515600" cy="8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400"/>
              <a:buFont typeface="Times New Roman"/>
              <a:buNone/>
            </a:pPr>
            <a:r>
              <a:rPr lang="en-US" sz="4400" b="1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sp>
        <p:nvSpPr>
          <p:cNvPr id="278" name="Google Shape;278;p18"/>
          <p:cNvSpPr txBox="1">
            <a:spLocks noGrp="1"/>
          </p:cNvSpPr>
          <p:nvPr>
            <p:ph type="body" idx="1"/>
          </p:nvPr>
        </p:nvSpPr>
        <p:spPr>
          <a:xfrm>
            <a:off x="311410" y="1049850"/>
            <a:ext cx="1147419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Li, J., Xu, Z., Wang, Y., &amp; Zhang, M. — </a:t>
            </a:r>
            <a:r>
              <a:rPr lang="en-I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FinVerse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 Autonomous Agent System for Versatile Financial Analysis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Luo, Q., Zhang, Z., &amp; Sun, Y. — </a:t>
            </a:r>
            <a:r>
              <a:rPr lang="en-I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FinCon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Synthesized LLM Multi-Agent System with Conceptual Verbal Reinforcement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Sharma, A., &amp; Gupta, R. —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Anomaly Detection in Financial Markets with LLM-based Multi-Agent Framework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Zhang, H., Chen, L., &amp; Wang, Q. —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LLM-</a:t>
            </a:r>
            <a:r>
              <a:rPr lang="en-I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MedQA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Multi-Agent Medical QA with Case Generation &amp; Voting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He, X., Wu, D., Zhai, Y., &amp; Sun, K. — </a:t>
            </a:r>
            <a:r>
              <a:rPr lang="en-I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SentinelAgent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Graph-based Anomaly Detection in Multi-Agent Systems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Xiao, Y., et al. — </a:t>
            </a:r>
            <a:r>
              <a:rPr lang="en-I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TradingAgents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Multi-Agents LLM Financial Trading Framework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Ji, X., et al. —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LEMAD: LLM-Empowered Multi-Agent System for Anomaly Detection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9" name="Google Shape;2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0"/>
          <p:cNvSpPr txBox="1">
            <a:spLocks noGrp="1"/>
          </p:cNvSpPr>
          <p:nvPr>
            <p:ph type="sldNum" idx="12"/>
          </p:nvPr>
        </p:nvSpPr>
        <p:spPr>
          <a:xfrm>
            <a:off x="8610600" y="62590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B02356-56A1-F52B-D472-918117386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1240</Words>
  <Application>Microsoft Office PowerPoint</Application>
  <PresentationFormat>Widescreen</PresentationFormat>
  <Paragraphs>109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Times New Roman</vt:lpstr>
      <vt:lpstr>Wingdings</vt:lpstr>
      <vt:lpstr>Office Theme</vt:lpstr>
      <vt:lpstr>1_Office Theme</vt:lpstr>
      <vt:lpstr>PowerPoint Presentation</vt:lpstr>
      <vt:lpstr>TITLE OF THE PROJECT </vt:lpstr>
      <vt:lpstr>PowerPoint Presentation</vt:lpstr>
      <vt:lpstr>PowerPoint Presentation</vt:lpstr>
      <vt:lpstr>PowerPoint Presentation</vt:lpstr>
      <vt:lpstr>EXISTING SYSTEM  </vt:lpstr>
      <vt:lpstr>DISADVANTAGES OF EXISTING SYSTEM </vt:lpstr>
      <vt:lpstr>PROPOSED SYSTEM </vt:lpstr>
      <vt:lpstr>  ADVANTAGES OF PROPOSED SYSTEM</vt:lpstr>
      <vt:lpstr>PowerPoint Presentation</vt:lpstr>
      <vt:lpstr>SYSTEM ARCHITECTURE</vt:lpstr>
      <vt:lpstr>DATA FLOW DIAGRAM</vt:lpstr>
      <vt:lpstr>MODULES</vt:lpstr>
      <vt:lpstr>MODULE DESCRIPTION</vt:lpstr>
      <vt:lpstr>MODULE DESCRIPTION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Janani R</dc:creator>
  <cp:lastModifiedBy>Pragateesh G</cp:lastModifiedBy>
  <cp:revision>12</cp:revision>
  <dcterms:created xsi:type="dcterms:W3CDTF">2022-07-29T05:28:32Z</dcterms:created>
  <dcterms:modified xsi:type="dcterms:W3CDTF">2026-02-11T03:51:28Z</dcterms:modified>
</cp:coreProperties>
</file>